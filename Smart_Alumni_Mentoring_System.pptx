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4A08C"/>
          </a:solidFill>
          <a:ln>
            <a:solidFill>
              <a:srgbClr val="B4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>
                <a:solidFill>
                  <a:srgbClr val="322D2D"/>
                </a:solidFill>
                <a:latin typeface="Calibri"/>
              </a:defRPr>
            </a:pPr>
            <a:r>
              <a:t>SMART ALUMNI MENTORING SYSTEM</a:t>
            </a:r>
          </a:p>
          <a:p>
            <a:pPr algn="ctr">
              <a:spcBef>
                <a:spcPts val="1400"/>
              </a:spcBef>
              <a:defRPr sz="2400">
                <a:solidFill>
                  <a:srgbClr val="B4A08C"/>
                </a:solidFill>
                <a:latin typeface="Calibri Light"/>
              </a:defRPr>
            </a:pPr>
            <a:r>
              <a:t>Bridging the Gap Between Students and Industry Experts</a:t>
            </a:r>
          </a:p>
          <a:p>
            <a:br/>
            <a:pPr algn="ctr">
              <a:defRPr sz="1800">
                <a:solidFill>
                  <a:srgbClr val="5A5550"/>
                </a:solidFill>
                <a:latin typeface="Calibri Light"/>
              </a:defRPr>
            </a:pPr>
            <a:r>
              <a:t>Presented by: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4A08C"/>
          </a:solidFill>
          <a:ln>
            <a:solidFill>
              <a:srgbClr val="B4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22D2D"/>
                </a:solidFill>
                <a:latin typeface="Calibri Light"/>
              </a:defRPr>
            </a:pPr>
            <a:r>
              <a:t>WHY THIS SYSTEM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34747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22D2D"/>
                </a:solidFill>
                <a:latin typeface="Calibri"/>
              </a:defRPr>
            </a:pPr>
            <a:r>
              <a:t>THE PROBLEM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Lack of direct mentorship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No structured alumni connection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Limited access to job referrals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828800"/>
            <a:ext cx="34747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92024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22D2D"/>
                </a:solidFill>
                <a:latin typeface="Calibri"/>
              </a:defRPr>
            </a:pPr>
            <a:r>
              <a:t>THE SOLUTION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Dedicated alumni-student platform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Verified and experienced mentors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Structured scheduling and interaction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4A08C"/>
          </a:solidFill>
          <a:ln>
            <a:solidFill>
              <a:srgbClr val="B4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22D2D"/>
                </a:solidFill>
                <a:latin typeface="Calibri Light"/>
              </a:defRPr>
            </a:pPr>
            <a:r>
              <a:t>KEY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256032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2377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22D2D"/>
                </a:solidFill>
                <a:latin typeface="Calibri"/>
              </a:defRPr>
            </a:pPr>
            <a:r>
              <a:t>Career Guidance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Resume reviews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Interview prep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Industry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2286000"/>
            <a:ext cx="256032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377440"/>
            <a:ext cx="2377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22D2D"/>
                </a:solidFill>
                <a:latin typeface="Calibri"/>
              </a:defRPr>
            </a:pPr>
            <a:r>
              <a:t>Networking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Build professional bonds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Direct referrals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Community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286000"/>
            <a:ext cx="256032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377440"/>
            <a:ext cx="2377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22D2D"/>
                </a:solidFill>
                <a:latin typeface="Calibri"/>
              </a:defRPr>
            </a:pPr>
            <a:r>
              <a:t>Time Efficiency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Automated scheduling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Centralized messaging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Clear availability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4A08C"/>
          </a:solidFill>
          <a:ln>
            <a:solidFill>
              <a:srgbClr val="B4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22D2D"/>
                </a:solidFill>
                <a:latin typeface="Calibri Light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228600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22D2D"/>
                </a:solidFill>
                <a:latin typeface="Calibri"/>
              </a:defRPr>
            </a:pPr>
            <a:r>
              <a:t>Frontend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HTML5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Vanilla CSS (Modern UI)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JavaScript (Dynamic)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2286000"/>
            <a:ext cx="228600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237744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22D2D"/>
                </a:solidFill>
                <a:latin typeface="Calibri"/>
              </a:defRPr>
            </a:pPr>
            <a:r>
              <a:t>Backend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Node.js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Express Framework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RESTful APIs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286000"/>
            <a:ext cx="228600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237744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22D2D"/>
                </a:solidFill>
                <a:latin typeface="Calibri"/>
              </a:defRPr>
            </a:pPr>
            <a:r>
              <a:t>Database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MongoDB (NoSQL)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Mongoose ODM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Cloud Atlas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4A08C"/>
          </a:solidFill>
          <a:ln>
            <a:solidFill>
              <a:srgbClr val="B4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22D2D"/>
                </a:solidFill>
                <a:latin typeface="Calibri Light"/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322D2D"/>
                </a:solidFill>
                <a:latin typeface="Calibri Light"/>
              </a:defRPr>
            </a:pPr>
            <a:r>
              <a:t>A comprehensive platform to facilitate growth:</a:t>
            </a:r>
          </a:p>
          <a:p>
            <a:pPr>
              <a:spcBef>
                <a:spcPts val="800"/>
              </a:spcBef>
              <a:defRPr sz="2000">
                <a:solidFill>
                  <a:srgbClr val="5A5550"/>
                </a:solidFill>
                <a:latin typeface="Calibri Light"/>
              </a:defRPr>
            </a:pPr>
            <a:r>
              <a:t>• Mentorship Matching: Connect based on skills and interests.</a:t>
            </a:r>
          </a:p>
          <a:p>
            <a:pPr>
              <a:spcBef>
                <a:spcPts val="800"/>
              </a:spcBef>
              <a:defRPr sz="2000">
                <a:solidFill>
                  <a:srgbClr val="5A5550"/>
                </a:solidFill>
                <a:latin typeface="Calibri Light"/>
              </a:defRPr>
            </a:pPr>
            <a:r>
              <a:t>• Meeting Scheduling: Seamless calendar integration for 1-on-1s.</a:t>
            </a:r>
          </a:p>
          <a:p>
            <a:pPr>
              <a:spcBef>
                <a:spcPts val="800"/>
              </a:spcBef>
              <a:defRPr sz="2000">
                <a:solidFill>
                  <a:srgbClr val="5A5550"/>
                </a:solidFill>
                <a:latin typeface="Calibri Light"/>
              </a:defRPr>
            </a:pPr>
            <a:r>
              <a:t>• Job Board: Exclusive opportunities posted directly by alumni.</a:t>
            </a:r>
          </a:p>
          <a:p>
            <a:pPr>
              <a:spcBef>
                <a:spcPts val="800"/>
              </a:spcBef>
              <a:defRPr sz="2000">
                <a:solidFill>
                  <a:srgbClr val="5A5550"/>
                </a:solidFill>
                <a:latin typeface="Calibri Light"/>
              </a:defRPr>
            </a:pPr>
            <a:r>
              <a:t>• Integrated Chat: Real-time communication environment.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4A08C"/>
          </a:solidFill>
          <a:ln>
            <a:solidFill>
              <a:srgbClr val="B4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22D2D"/>
                </a:solidFill>
                <a:latin typeface="Calibri Light"/>
              </a:defRPr>
            </a:pPr>
            <a:r>
              <a:t>STUDENT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347472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22D2D"/>
                </a:solidFill>
                <a:latin typeface="Calibri"/>
              </a:defRPr>
            </a:pPr>
            <a:r>
              <a:t>Profile Management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Track CGPA, skills,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828800"/>
            <a:ext cx="347472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9202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22D2D"/>
                </a:solidFill>
                <a:latin typeface="Calibri"/>
              </a:defRPr>
            </a:pPr>
            <a:r>
              <a:t>Mentor Discovery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Find and request mentors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114800"/>
            <a:ext cx="347472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22D2D"/>
                </a:solidFill>
                <a:latin typeface="Calibri"/>
              </a:defRPr>
            </a:pPr>
            <a:r>
              <a:t>Meeting Hub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Manage upcoming sessions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4114800"/>
            <a:ext cx="347472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42062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22D2D"/>
                </a:solidFill>
                <a:latin typeface="Calibri"/>
              </a:defRPr>
            </a:pPr>
            <a:r>
              <a:t>Opportunities &amp; Support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Browse jobs &amp; file complaints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4A08C"/>
          </a:solidFill>
          <a:ln>
            <a:solidFill>
              <a:srgbClr val="B4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22D2D"/>
                </a:solidFill>
                <a:latin typeface="Calibri Light"/>
              </a:defRPr>
            </a:pPr>
            <a:r>
              <a:t>ALUMNI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286000"/>
            <a:ext cx="29260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37744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22D2D"/>
                </a:solidFill>
                <a:latin typeface="Calibri"/>
              </a:defRPr>
            </a:pPr>
            <a:r>
              <a:t>Mentorship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Accept or reject requests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Manage student roster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2286000"/>
            <a:ext cx="29260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237744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22D2D"/>
                </a:solidFill>
                <a:latin typeface="Calibri"/>
              </a:defRPr>
            </a:pPr>
            <a:r>
              <a:t>Contribution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Provide meeting time slots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Post exclusive job openings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4A08C"/>
          </a:solidFill>
          <a:ln>
            <a:solidFill>
              <a:srgbClr val="B4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22D2D"/>
                </a:solidFill>
                <a:latin typeface="Calibri Light"/>
              </a:defRPr>
            </a:pPr>
            <a:r>
              <a:t>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0" sz="2400">
                <a:solidFill>
                  <a:srgbClr val="322D2D"/>
                </a:solidFill>
                <a:latin typeface="Calibri Light"/>
              </a:defRPr>
            </a:pPr>
            <a:r>
              <a:t>Centralized Control &amp; Moderation:</a:t>
            </a:r>
          </a:p>
          <a:p>
            <a:pPr>
              <a:spcBef>
                <a:spcPts val="800"/>
              </a:spcBef>
              <a:defRPr sz="2000">
                <a:solidFill>
                  <a:srgbClr val="5A5550"/>
                </a:solidFill>
                <a:latin typeface="Calibri Light"/>
              </a:defRPr>
            </a:pPr>
            <a:r>
              <a:t>• User Management: Oversee student and alumni accounts.</a:t>
            </a:r>
          </a:p>
          <a:p>
            <a:pPr>
              <a:spcBef>
                <a:spcPts val="800"/>
              </a:spcBef>
              <a:defRPr sz="2000">
                <a:solidFill>
                  <a:srgbClr val="5A5550"/>
                </a:solidFill>
                <a:latin typeface="Calibri Light"/>
              </a:defRPr>
            </a:pPr>
            <a:r>
              <a:t>• Alumni Verification: Approve alumni registrations for security.</a:t>
            </a:r>
          </a:p>
          <a:p>
            <a:pPr>
              <a:spcBef>
                <a:spcPts val="800"/>
              </a:spcBef>
              <a:defRPr sz="2000">
                <a:solidFill>
                  <a:srgbClr val="5A5550"/>
                </a:solidFill>
                <a:latin typeface="Calibri Light"/>
              </a:defRPr>
            </a:pPr>
            <a:r>
              <a:t>• Meeting Monitoring: Track system activity and engagement.</a:t>
            </a:r>
          </a:p>
          <a:p>
            <a:pPr>
              <a:spcBef>
                <a:spcPts val="800"/>
              </a:spcBef>
              <a:defRPr sz="2000">
                <a:solidFill>
                  <a:srgbClr val="5A5550"/>
                </a:solidFill>
                <a:latin typeface="Calibri Light"/>
              </a:defRPr>
            </a:pPr>
            <a:r>
              <a:t>• Complaint Resolution: Address and resolve user issues.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4A08C"/>
          </a:solidFill>
          <a:ln>
            <a:solidFill>
              <a:srgbClr val="B4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22D2D"/>
                </a:solidFill>
                <a:latin typeface="Calibri Light"/>
              </a:defRPr>
            </a:pPr>
            <a:r>
              <a:t>MEETING SYSTEM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200400"/>
            <a:ext cx="12801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B4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280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22D2D"/>
                </a:solidFill>
              </a:defRPr>
            </a:pPr>
            <a:r>
              <a:t>Student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286000"/>
            <a:ext cx="1280160" cy="914400"/>
          </a:xfrm>
          <a:prstGeom prst="rect">
            <a:avLst/>
          </a:prstGeom>
          <a:solidFill>
            <a:srgbClr val="FAF6F0"/>
          </a:solidFill>
          <a:ln>
            <a:solidFill>
              <a:srgbClr val="B4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286000"/>
            <a:ext cx="1280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22D2D"/>
                </a:solidFill>
              </a:defRPr>
            </a:pPr>
            <a:r>
              <a:t>Request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200400"/>
            <a:ext cx="12801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B4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3200400"/>
            <a:ext cx="1280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22D2D"/>
                </a:solidFill>
              </a:defRPr>
            </a:pPr>
            <a:r>
              <a:t>Alumni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286000"/>
            <a:ext cx="1280160" cy="914400"/>
          </a:xfrm>
          <a:prstGeom prst="rect">
            <a:avLst/>
          </a:prstGeom>
          <a:solidFill>
            <a:srgbClr val="FAF6F0"/>
          </a:solidFill>
          <a:ln>
            <a:solidFill>
              <a:srgbClr val="B4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1280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22D2D"/>
                </a:solidFill>
              </a:defRPr>
            </a:pPr>
            <a:r>
              <a:t>Provides Slots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200400"/>
            <a:ext cx="12801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B4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3200400"/>
            <a:ext cx="1280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22D2D"/>
                </a:solidFill>
              </a:defRPr>
            </a:pPr>
            <a:r>
              <a:t>Student Selects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286000"/>
            <a:ext cx="1280160" cy="914400"/>
          </a:xfrm>
          <a:prstGeom prst="rect">
            <a:avLst/>
          </a:prstGeom>
          <a:solidFill>
            <a:srgbClr val="FAF6F0"/>
          </a:solidFill>
          <a:ln>
            <a:solidFill>
              <a:srgbClr val="B4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286000"/>
            <a:ext cx="1280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22D2D"/>
                </a:solidFill>
              </a:defRPr>
            </a:pPr>
            <a:r>
              <a:t>Scheduled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4A08C"/>
          </a:solidFill>
          <a:ln>
            <a:solidFill>
              <a:srgbClr val="B4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22D2D"/>
                </a:solidFill>
                <a:latin typeface="Calibri Light"/>
              </a:defRPr>
            </a:pPr>
            <a:r>
              <a:t>CHAT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228600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22D2D"/>
                </a:solidFill>
                <a:latin typeface="Calibri"/>
              </a:defRPr>
            </a:pPr>
            <a:r>
              <a:t>Student ↔ Alumni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Direct mentorship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Secure messaging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2286000"/>
            <a:ext cx="228600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237744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22D2D"/>
                </a:solidFill>
                <a:latin typeface="Calibri"/>
              </a:defRPr>
            </a:pPr>
            <a:r>
              <a:t>Student ↔ Admin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Support queries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Issue resolution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286000"/>
            <a:ext cx="228600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237744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22D2D"/>
                </a:solidFill>
                <a:latin typeface="Calibri"/>
              </a:defRPr>
            </a:pPr>
            <a:r>
              <a:t>Alumni ↔ Admin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Platform feedback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Verification help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4A08C"/>
          </a:solidFill>
          <a:ln>
            <a:solidFill>
              <a:srgbClr val="B4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22D2D"/>
                </a:solidFill>
                <a:latin typeface="Calibri Light"/>
              </a:defRPr>
            </a:pPr>
            <a:r>
              <a:t>KEY FEATURES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22860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22D2D"/>
                </a:solidFill>
              </a:defRPr>
            </a:pPr>
            <a:r>
              <a:t>Role-Based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2286000"/>
            <a:ext cx="22860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228600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22D2D"/>
                </a:solidFill>
              </a:defRPr>
            </a:pPr>
            <a:r>
              <a:t>Mentor Discovery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2286000"/>
            <a:ext cx="22860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228600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22D2D"/>
                </a:solidFill>
              </a:defRPr>
            </a:pPr>
            <a:r>
              <a:t>Meeting Scheduling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931920"/>
            <a:ext cx="22860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22D2D"/>
                </a:solidFill>
              </a:defRPr>
            </a:pPr>
            <a:r>
              <a:t>Real-Time Chat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3931920"/>
            <a:ext cx="22860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393192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22D2D"/>
                </a:solidFill>
              </a:defRPr>
            </a:pPr>
            <a:r>
              <a:t>Job Sharing 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3931920"/>
            <a:ext cx="22860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393192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22D2D"/>
                </a:solidFill>
              </a:defRPr>
            </a:pPr>
            <a:r>
              <a:t>Complaint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4A08C"/>
          </a:solidFill>
          <a:ln>
            <a:solidFill>
              <a:srgbClr val="B4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22D2D"/>
                </a:solidFill>
                <a:latin typeface="Calibri Light"/>
              </a:defRPr>
            </a:pPr>
            <a:r>
              <a:t>DEVELOPMENT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347472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22D2D"/>
                </a:solidFill>
                <a:latin typeface="Calibri"/>
              </a:defRPr>
            </a:pPr>
            <a:r>
              <a:t>Technical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Data handling &amp; MongoDB queries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State synchronization &amp; real-time updates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2286000"/>
            <a:ext cx="347472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23774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22D2D"/>
                </a:solidFill>
                <a:latin typeface="Calibri"/>
              </a:defRPr>
            </a:pPr>
            <a:r>
              <a:t>Design &amp; Security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Maintaining UI consistency</a:t>
            </a:r>
          </a:p>
          <a:p>
            <a:pPr>
              <a:spcBef>
                <a:spcPts val="600"/>
              </a:spcBef>
              <a:defRPr sz="1600">
                <a:solidFill>
                  <a:srgbClr val="5A5550"/>
                </a:solidFill>
                <a:latin typeface="Calibri Light"/>
              </a:defRPr>
            </a:pPr>
            <a:r>
              <a:t>• Securing routes and authentication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4A08C"/>
          </a:solidFill>
          <a:ln>
            <a:solidFill>
              <a:srgbClr val="B4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22D2D"/>
                </a:solidFill>
                <a:latin typeface="Calibri Light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0" sz="2400">
                <a:solidFill>
                  <a:srgbClr val="322D2D"/>
                </a:solidFill>
                <a:latin typeface="Calibri Light"/>
              </a:defRPr>
            </a:pPr>
            <a:r>
              <a:t>Expanding the horizon:</a:t>
            </a:r>
          </a:p>
          <a:p>
            <a:pPr>
              <a:spcBef>
                <a:spcPts val="800"/>
              </a:spcBef>
              <a:defRPr sz="2000">
                <a:solidFill>
                  <a:srgbClr val="5A5550"/>
                </a:solidFill>
                <a:latin typeface="Calibri Light"/>
              </a:defRPr>
            </a:pPr>
            <a:r>
              <a:t>• AI Recommendations: Smart mentor-student matching algorithms.</a:t>
            </a:r>
          </a:p>
          <a:p>
            <a:pPr>
              <a:spcBef>
                <a:spcPts val="800"/>
              </a:spcBef>
              <a:defRPr sz="2000">
                <a:solidFill>
                  <a:srgbClr val="5A5550"/>
                </a:solidFill>
                <a:latin typeface="Calibri Light"/>
              </a:defRPr>
            </a:pPr>
            <a:r>
              <a:t>• Video Integration: In-app meetings via Zoom or WebRTC.</a:t>
            </a:r>
          </a:p>
          <a:p>
            <a:pPr>
              <a:spcBef>
                <a:spcPts val="800"/>
              </a:spcBef>
              <a:defRPr sz="2000">
                <a:solidFill>
                  <a:srgbClr val="5A5550"/>
                </a:solidFill>
                <a:latin typeface="Calibri Light"/>
              </a:defRPr>
            </a:pPr>
            <a:r>
              <a:t>• Mobile Application: Cross-platform access for on-the-go connectivity.</a:t>
            </a:r>
          </a:p>
          <a:p>
            <a:pPr>
              <a:spcBef>
                <a:spcPts val="800"/>
              </a:spcBef>
              <a:defRPr sz="2000">
                <a:solidFill>
                  <a:srgbClr val="5A5550"/>
                </a:solidFill>
                <a:latin typeface="Calibri Light"/>
              </a:defRPr>
            </a:pPr>
            <a:r>
              <a:t>• Advanced Analytics: Tracking engagement and success metrics.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4A08C"/>
          </a:solidFill>
          <a:ln>
            <a:solidFill>
              <a:srgbClr val="B4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22D2D"/>
                </a:solidFill>
                <a:latin typeface="Calibri Light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322D2D"/>
                </a:solidFill>
                <a:latin typeface="Calibri Light"/>
              </a:defRPr>
            </a:pPr>
            <a:r>
              <a:t>Empowering the Next Generation</a:t>
            </a:r>
          </a:p>
          <a:p>
            <a:pPr>
              <a:spcBef>
                <a:spcPts val="800"/>
              </a:spcBef>
              <a:defRPr sz="2200">
                <a:solidFill>
                  <a:srgbClr val="5A5550"/>
                </a:solidFill>
                <a:latin typeface="Calibri Light"/>
              </a:defRPr>
            </a:pPr>
            <a:r>
              <a:t>• Bridges the gap between academic learning and industry realities.</a:t>
            </a:r>
          </a:p>
          <a:p>
            <a:pPr>
              <a:spcBef>
                <a:spcPts val="800"/>
              </a:spcBef>
              <a:defRPr sz="2200">
                <a:solidFill>
                  <a:srgbClr val="5A5550"/>
                </a:solidFill>
                <a:latin typeface="Calibri Light"/>
              </a:defRPr>
            </a:pPr>
            <a:r>
              <a:t>• Fosters a strong, self-sustaining community of continuous learning.</a:t>
            </a:r>
          </a:p>
          <a:p>
            <a:pPr>
              <a:spcBef>
                <a:spcPts val="800"/>
              </a:spcBef>
              <a:defRPr sz="2200">
                <a:solidFill>
                  <a:srgbClr val="5A5550"/>
                </a:solidFill>
                <a:latin typeface="Calibri Light"/>
              </a:defRPr>
            </a:pPr>
            <a:r>
              <a:t>• Transforms connections into actionable career opportunities.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